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허준(1539~1615)의 생애와 『동의보감』을 소개합니다. 자료: research/허준_자료조사_v2.md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서자라 문과에 응시할 수 없어 잡과인 의학의 길을 걸은 것으로 봅니다. 발표는 생애와 관직, 『동의보감』, 의의 순서로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1539년 출생부터 1615년 별세까지의 생애를 살펴봅니다.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1590년 왕자(뒤의 광해군)의 두창을 치료해 당상관에 올랐고, 신분이 낮은 의관의 승진에 조정의 반발이 있었습니다. 1606년 정1품 품계는 대간의 반대로 보류되었습니다.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허준의 대표 저서 『동의보감』의 편찬 과정과 특징, 국외 전파를 살펴봅니다.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1596년 정작·양예수 등과 시작했으나 정유재란으로 중단되었고, 선조가 내장방서 500권을 내주어 허준 혼자 이어 갔습니다. 1610년 완성, 1613년 내의원에서 목활자로 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등재본은 국립중앙도서관 소장본과 한국학중앙연구원 소장본(초판 완질본)입니다.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드라마 속 스승 유의태와 해부 일화는 작가의 창작이며, 이 발표는 기록으로 확인되는 사실만 다루었습니다.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36576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E8EFFD"/>
                </a:solidFill>
                <a:latin typeface="맑은 고딕"/>
                <a:ea typeface="맑은 고딕"/>
              </a:rPr>
              <a:t>[배경 사진 자리]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3961" y="1554480"/>
            <a:ext cx="9143771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8919" y="2011680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84367" y="1938528"/>
            <a:ext cx="109728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161" y="2377440"/>
            <a:ext cx="8229371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000" b="1">
                <a:solidFill>
                  <a:srgbClr val="222222"/>
                </a:solidFill>
                <a:latin typeface="맑은 고딕"/>
                <a:ea typeface="맑은 고딕"/>
              </a:rPr>
              <a:t>허준과</a:t>
            </a:r>
          </a:p>
          <a:p>
            <a:pPr algn="ctr"/>
            <a:r>
              <a:rPr sz="4000" b="1">
                <a:solidFill>
                  <a:srgbClr val="222222"/>
                </a:solidFill>
                <a:latin typeface="맑은 고딕"/>
                <a:ea typeface="맑은 고딕"/>
              </a:rPr>
              <a:t>『동의보감』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0087" y="3977639"/>
            <a:ext cx="731520" cy="36576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161" y="4160520"/>
            <a:ext cx="8229371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맑은 고딕"/>
                <a:ea typeface="맑은 고딕"/>
              </a:rPr>
              <a:t>조선 의학을 집대성한 의학자 | 발표자료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161" y="4617720"/>
            <a:ext cx="8229371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2026. 10. 18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9768"/>
            <a:ext cx="73152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81381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A5CF0"/>
                </a:solidFill>
                <a:latin typeface="맑은 고딕"/>
                <a:ea typeface="맑은 고딕"/>
              </a:rPr>
              <a:t>01. </a:t>
            </a:r>
            <a:r>
              <a:rPr sz="2400" b="1">
                <a:solidFill>
                  <a:srgbClr val="222222"/>
                </a:solidFill>
                <a:latin typeface="맑은 고딕"/>
                <a:ea typeface="맑은 고딕"/>
              </a:rPr>
              <a:t>허준은 누구인가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조선 중기의 어의이자 『동의보감』의 저자 (1539~1615)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7733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허준과 동의보감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Key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367028"/>
            <a:ext cx="10088575" cy="13716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11480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서자 출신 의관이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어떻게 조선 의학을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집대성했을까?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6888175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본관은 양천, 호는 구암(龜巖). 무관 집안의 서자로 태어났다.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1569년 무렵 내의원에 들어가 선조와 광해군의 어의가 되었다.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왕명으로 『동의보감』 25권을 완성해 동아시아 의학에 영향을 주었다.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5376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365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생애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1539년 양천현 출생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1615년 별세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3673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91850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0839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833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관직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833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선조·광해군의 어의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호성공신 3등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0147" y="3429000"/>
            <a:ext cx="2647873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324" y="3657600"/>
            <a:ext cx="731520" cy="73152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7313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A5CF0"/>
                </a:solidFill>
                <a:latin typeface="맑은 고딕"/>
                <a:ea typeface="맑은 고딕"/>
              </a:rPr>
              <a:t>동의보감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1610년 완성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25권 25책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6621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44798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3787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781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평가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3781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2009 세계기록유산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2015 국보 승격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731520"/>
            <a:ext cx="3291840" cy="3291840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011680"/>
            <a:ext cx="2103120" cy="2103120"/>
          </a:xfrm>
          <a:prstGeom prst="ellipse">
            <a:avLst/>
          </a:prstGeom>
          <a:noFill/>
          <a:ln w="9525">
            <a:solidFill>
              <a:srgbClr val="E8EF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16736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19072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16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02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574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146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002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288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574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860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146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288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574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860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146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205740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Chapter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468880"/>
            <a:ext cx="274320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7200" b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49039"/>
            <a:ext cx="62179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생애와 관직 활동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617720"/>
            <a:ext cx="3230575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서자 출신, 내의원 입문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왕자 두창 치료와 당상관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임진왜란 호종과 호성공신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유배와 어의 복귀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8EFFD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9768"/>
            <a:ext cx="73152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81381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A5CF0"/>
                </a:solidFill>
                <a:latin typeface="맑은 고딕"/>
                <a:ea typeface="맑은 고딕"/>
              </a:rPr>
              <a:t>02. </a:t>
            </a:r>
            <a:r>
              <a:rPr sz="2400" b="1">
                <a:solidFill>
                  <a:srgbClr val="222222"/>
                </a:solidFill>
                <a:latin typeface="맑은 고딕"/>
                <a:ea typeface="맑은 고딕"/>
              </a:rPr>
              <a:t>어의(御醫)의 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내의원 입문부터 임진왜란, 유배와 복귀까지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7733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허준과 동의보감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566928"/>
            <a:ext cx="850392" cy="457200"/>
          </a:xfrm>
          <a:prstGeom prst="round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32320" y="5486400"/>
            <a:ext cx="2743200" cy="1371600"/>
          </a:xfrm>
          <a:custGeom>
            <a:avLst/>
            <a:gdLst/>
            <a:ahLst/>
            <a:cxnLst/>
            <a:rect l="l" t="t" r="r" b="b"/>
            <a:pathLst>
              <a:path w="2743200" h="1371600">
                <a:moveTo>
                  <a:pt x="2743200" y="1371600"/>
                </a:moveTo>
                <a:lnTo>
                  <a:pt x="2740263" y="1281893"/>
                </a:lnTo>
                <a:lnTo>
                  <a:pt x="2731465" y="1192570"/>
                </a:lnTo>
                <a:lnTo>
                  <a:pt x="2716845" y="1104014"/>
                </a:lnTo>
                <a:lnTo>
                  <a:pt x="2696463" y="1016603"/>
                </a:lnTo>
                <a:lnTo>
                  <a:pt x="2670409" y="930713"/>
                </a:lnTo>
                <a:lnTo>
                  <a:pt x="2638793" y="846711"/>
                </a:lnTo>
                <a:lnTo>
                  <a:pt x="2601750" y="764956"/>
                </a:lnTo>
                <a:lnTo>
                  <a:pt x="2559440" y="685800"/>
                </a:lnTo>
                <a:lnTo>
                  <a:pt x="2512043" y="609579"/>
                </a:lnTo>
                <a:lnTo>
                  <a:pt x="2459763" y="536622"/>
                </a:lnTo>
                <a:lnTo>
                  <a:pt x="2402823" y="467241"/>
                </a:lnTo>
                <a:lnTo>
                  <a:pt x="2341467" y="401732"/>
                </a:lnTo>
                <a:lnTo>
                  <a:pt x="2275958" y="340376"/>
                </a:lnTo>
                <a:lnTo>
                  <a:pt x="2206577" y="283436"/>
                </a:lnTo>
                <a:lnTo>
                  <a:pt x="2133620" y="231156"/>
                </a:lnTo>
                <a:lnTo>
                  <a:pt x="2057400" y="183759"/>
                </a:lnTo>
                <a:lnTo>
                  <a:pt x="1978243" y="141449"/>
                </a:lnTo>
                <a:lnTo>
                  <a:pt x="1896488" y="104406"/>
                </a:lnTo>
                <a:lnTo>
                  <a:pt x="1812486" y="72790"/>
                </a:lnTo>
                <a:lnTo>
                  <a:pt x="1726596" y="46736"/>
                </a:lnTo>
                <a:lnTo>
                  <a:pt x="1639185" y="26354"/>
                </a:lnTo>
                <a:lnTo>
                  <a:pt x="1550629" y="11734"/>
                </a:lnTo>
                <a:lnTo>
                  <a:pt x="1461306" y="2936"/>
                </a:lnTo>
                <a:lnTo>
                  <a:pt x="1371600" y="0"/>
                </a:lnTo>
                <a:lnTo>
                  <a:pt x="1281893" y="2936"/>
                </a:lnTo>
                <a:lnTo>
                  <a:pt x="1192570" y="11734"/>
                </a:lnTo>
                <a:lnTo>
                  <a:pt x="1104014" y="26354"/>
                </a:lnTo>
                <a:lnTo>
                  <a:pt x="1016603" y="46736"/>
                </a:lnTo>
                <a:lnTo>
                  <a:pt x="930713" y="72790"/>
                </a:lnTo>
                <a:lnTo>
                  <a:pt x="846711" y="104406"/>
                </a:lnTo>
                <a:lnTo>
                  <a:pt x="764956" y="141449"/>
                </a:lnTo>
                <a:lnTo>
                  <a:pt x="685800" y="183759"/>
                </a:lnTo>
                <a:lnTo>
                  <a:pt x="609579" y="231156"/>
                </a:lnTo>
                <a:lnTo>
                  <a:pt x="536622" y="283436"/>
                </a:lnTo>
                <a:lnTo>
                  <a:pt x="467241" y="340376"/>
                </a:lnTo>
                <a:lnTo>
                  <a:pt x="401732" y="401732"/>
                </a:lnTo>
                <a:lnTo>
                  <a:pt x="340376" y="467241"/>
                </a:lnTo>
                <a:lnTo>
                  <a:pt x="283436" y="536622"/>
                </a:lnTo>
                <a:lnTo>
                  <a:pt x="231156" y="609579"/>
                </a:lnTo>
                <a:lnTo>
                  <a:pt x="183759" y="685800"/>
                </a:lnTo>
                <a:lnTo>
                  <a:pt x="141449" y="764956"/>
                </a:lnTo>
                <a:lnTo>
                  <a:pt x="104406" y="846711"/>
                </a:lnTo>
                <a:lnTo>
                  <a:pt x="72790" y="930713"/>
                </a:lnTo>
                <a:lnTo>
                  <a:pt x="46736" y="1016603"/>
                </a:lnTo>
                <a:lnTo>
                  <a:pt x="26354" y="1104014"/>
                </a:lnTo>
                <a:lnTo>
                  <a:pt x="11734" y="1192570"/>
                </a:lnTo>
                <a:lnTo>
                  <a:pt x="2936" y="1281893"/>
                </a:lnTo>
                <a:lnTo>
                  <a:pt x="0" y="1371600"/>
                </a:lnTo>
                <a:close/>
              </a:path>
            </a:pathLst>
          </a:custGeom>
          <a:solidFill>
            <a:srgbClr val="1F3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457200" y="1508760"/>
            <a:ext cx="4206240" cy="3657600"/>
          </a:xfrm>
          <a:prstGeom prst="hexagon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  <a:ea typeface="맑은 고딕"/>
              </a:rPr>
              <a:t>이미지 자리</a:t>
            </a:r>
          </a:p>
        </p:txBody>
      </p:sp>
      <p:sp>
        <p:nvSpPr>
          <p:cNvPr id="12" name="Oval 11"/>
          <p:cNvSpPr/>
          <p:nvPr/>
        </p:nvSpPr>
        <p:spPr>
          <a:xfrm>
            <a:off x="5720029" y="2148840"/>
            <a:ext cx="822960" cy="82296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305202"/>
            <a:ext cx="510235" cy="510235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54680"/>
            <a:ext cx="2021738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내의원 입문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11880"/>
            <a:ext cx="202173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1569년 무렵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유희춘의 추천으로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내의원에 들어감</a:t>
            </a:r>
          </a:p>
        </p:txBody>
      </p:sp>
      <p:sp>
        <p:nvSpPr>
          <p:cNvPr id="16" name="Oval 15"/>
          <p:cNvSpPr/>
          <p:nvPr/>
        </p:nvSpPr>
        <p:spPr>
          <a:xfrm>
            <a:off x="8016087" y="2148840"/>
            <a:ext cx="822960" cy="82296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2450" y="2305202"/>
            <a:ext cx="510235" cy="510235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6698" y="3154680"/>
            <a:ext cx="2021738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호성공신 책봉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6698" y="3611880"/>
            <a:ext cx="202173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임진왜란 때 선조를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의주까지 호종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1604년 호성공신 3등</a:t>
            </a:r>
          </a:p>
        </p:txBody>
      </p:sp>
      <p:sp>
        <p:nvSpPr>
          <p:cNvPr id="20" name="Oval 19"/>
          <p:cNvSpPr/>
          <p:nvPr/>
        </p:nvSpPr>
        <p:spPr>
          <a:xfrm>
            <a:off x="10312146" y="2148840"/>
            <a:ext cx="822960" cy="82296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68508" y="2305202"/>
            <a:ext cx="510235" cy="510235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2756" y="3154680"/>
            <a:ext cx="2021738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유배와 복귀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2756" y="3611880"/>
            <a:ext cx="202173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1608년 선조 승하 후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유배, 1609년 복귀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유배 중 집필에 집중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731520"/>
            <a:ext cx="3291840" cy="3291840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011680"/>
            <a:ext cx="2103120" cy="2103120"/>
          </a:xfrm>
          <a:prstGeom prst="ellipse">
            <a:avLst/>
          </a:prstGeom>
          <a:noFill/>
          <a:ln w="9525">
            <a:solidFill>
              <a:srgbClr val="E8EF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16736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19072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640080"/>
            <a:ext cx="54864" cy="1005840"/>
          </a:xfrm>
          <a:prstGeom prst="rect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16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02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574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14600" y="52578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002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288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574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860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14600" y="54864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288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574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860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14600" y="5715000"/>
            <a:ext cx="54864" cy="54864"/>
          </a:xfrm>
          <a:prstGeom prst="ellipse">
            <a:avLst/>
          </a:prstGeom>
          <a:solidFill>
            <a:srgbClr val="2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205740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Chapter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468880"/>
            <a:ext cx="274320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7200" b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49039"/>
            <a:ext cx="62179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『동의보감』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617720"/>
            <a:ext cx="3230575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1596년 선조의 편찬 명령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1610년 완성, 1613년 간행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양생·실용·향약의 특징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·  중국·일본 전파와 세계기록유산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8EFFD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9768"/>
            <a:ext cx="73152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81381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A5CF0"/>
                </a:solidFill>
                <a:latin typeface="맑은 고딕"/>
                <a:ea typeface="맑은 고딕"/>
              </a:rPr>
              <a:t>03. </a:t>
            </a:r>
            <a:r>
              <a:rPr sz="2400" b="1">
                <a:solidFill>
                  <a:srgbClr val="222222"/>
                </a:solidFill>
                <a:latin typeface="맑은 고딕"/>
                <a:ea typeface="맑은 고딕"/>
              </a:rPr>
              <a:t>『동의보감』의 편찬과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1596년 왕명으로 시작해 1610년 완성 (약 14년)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7733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허준과 동의보감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8346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조선 의학을</a:t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집대성한 의서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01  </a:t>
            </a: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1596년 편찬 명령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02  </a:t>
            </a: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1610년 완성·헌정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03  </a:t>
            </a: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1613년 목활자 간행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2834640" cy="242316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1719072" y="3749039"/>
            <a:ext cx="310896" cy="384048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26517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25권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26517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25권 25책 · 5편 구성</a:t>
            </a:r>
          </a:p>
        </p:txBody>
      </p:sp>
      <p:sp>
        <p:nvSpPr>
          <p:cNvPr id="17" name="Oval Callout 16"/>
          <p:cNvSpPr/>
          <p:nvPr/>
        </p:nvSpPr>
        <p:spPr>
          <a:xfrm>
            <a:off x="4439869" y="1234440"/>
            <a:ext cx="868680" cy="868680"/>
          </a:xfrm>
          <a:prstGeom prst="wedgeEllipseCallout">
            <a:avLst>
              <a:gd name="adj1" fmla="val -35000"/>
              <a:gd name="adj2" fmla="val 62000"/>
            </a:avLst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양생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286000"/>
            <a:ext cx="252465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예방 중심 의학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670048"/>
            <a:ext cx="252465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병을 고치기보다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몸을 돌봐 예방함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첫머리에 신형장부도</a:t>
            </a:r>
          </a:p>
        </p:txBody>
      </p:sp>
      <p:sp>
        <p:nvSpPr>
          <p:cNvPr id="20" name="Oval Callout 19"/>
          <p:cNvSpPr/>
          <p:nvPr/>
        </p:nvSpPr>
        <p:spPr>
          <a:xfrm>
            <a:off x="7238847" y="1234440"/>
            <a:ext cx="868680" cy="868680"/>
          </a:xfrm>
          <a:prstGeom prst="wedgeEllipseCallout">
            <a:avLst>
              <a:gd name="adj1" fmla="val -35000"/>
              <a:gd name="adj2" fmla="val 62000"/>
            </a:avLst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실용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858" y="2286000"/>
            <a:ext cx="252465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찾기 쉬운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858" y="2670048"/>
            <a:ext cx="252465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증상 → 원인 → 처방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순서로 정리하고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인용 출처를 밝힘</a:t>
            </a:r>
          </a:p>
        </p:txBody>
      </p:sp>
      <p:sp>
        <p:nvSpPr>
          <p:cNvPr id="23" name="Oval Callout 22"/>
          <p:cNvSpPr/>
          <p:nvPr/>
        </p:nvSpPr>
        <p:spPr>
          <a:xfrm>
            <a:off x="10037826" y="1234440"/>
            <a:ext cx="868680" cy="868680"/>
          </a:xfrm>
          <a:prstGeom prst="wedgeEllipseCallout">
            <a:avLst>
              <a:gd name="adj1" fmla="val -35000"/>
              <a:gd name="adj2" fmla="val 62000"/>
            </a:avLst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향약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9836" y="2286000"/>
            <a:ext cx="252465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맑은 고딕"/>
                <a:ea typeface="맑은 고딕"/>
              </a:rPr>
              <a:t>조선의 약재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9836" y="2670048"/>
            <a:ext cx="252465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조선에서 나는 약재를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중시하고 약재 이름에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한글 이름을 함께 적음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749039"/>
            <a:ext cx="8122615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11880" y="3749039"/>
            <a:ext cx="8122615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구성 (25권 25책)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2권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전체 목차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1369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내경편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1369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4권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1369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몸 안의 장부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5138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외형편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5138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4권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5138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몸 바깥의 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8907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잡병편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8907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11권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8907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여러 질병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2676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탕액편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2676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3권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2676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약재 설명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6446" y="429767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  <a:ea typeface="맑은 고딕"/>
              </a:rPr>
              <a:t>침구편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6446" y="4645152"/>
            <a:ext cx="126232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A5CF0"/>
                </a:solidFill>
                <a:latin typeface="맑은 고딕"/>
                <a:ea typeface="맑은 고딕"/>
              </a:rPr>
              <a:t>1권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6446" y="5166359"/>
            <a:ext cx="1262329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침과 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9768"/>
            <a:ext cx="73152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81381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A5CF0"/>
                </a:solidFill>
                <a:latin typeface="맑은 고딕"/>
                <a:ea typeface="맑은 고딕"/>
              </a:rPr>
              <a:t>04. </a:t>
            </a:r>
            <a:r>
              <a:rPr sz="2400" b="1">
                <a:solidFill>
                  <a:srgbClr val="222222"/>
                </a:solidFill>
                <a:latin typeface="맑은 고딕"/>
                <a:ea typeface="맑은 고딕"/>
              </a:rPr>
              <a:t>세계로 간 『동의보감』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중국·일본에서 거듭 간행되고 세계기록유산이 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7733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허준과 동의보감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Key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367028"/>
            <a:ext cx="10088575" cy="13716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11480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한국인이 쓴 책 가운데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중국에서 가장 많이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간행된 의서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6888175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중국에서는 1747년 필사본을 비롯해 약 17종이 간행되었다.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일본에서도 1724년 교토에서 간행되어 에도 의학에 영향을 주었다.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2009년 의학서로는 처음 유네스코 세계기록유산에 올랐다.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5376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365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중국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20세기 전까지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약 17종 간행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3673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91850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0839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833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일본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833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1724년 교토 간행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에도 의학에 영향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0147" y="3429000"/>
            <a:ext cx="2647873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324" y="3657600"/>
            <a:ext cx="731520" cy="73152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7313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A5CF0"/>
                </a:solidFill>
                <a:latin typeface="맑은 고딕"/>
                <a:ea typeface="맑은 고딕"/>
              </a:rPr>
              <a:t>세계기록유산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2009년 7월 등재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의학서로는 처음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6621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44798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3787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781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국보 승격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3781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2015년 보물에서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국보로 승격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9768"/>
            <a:ext cx="73152" cy="41148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81381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A5CF0"/>
                </a:solidFill>
                <a:latin typeface="맑은 고딕"/>
                <a:ea typeface="맑은 고딕"/>
              </a:rPr>
              <a:t>05. </a:t>
            </a:r>
            <a:r>
              <a:rPr sz="2400" b="1">
                <a:solidFill>
                  <a:srgbClr val="222222"/>
                </a:solidFill>
                <a:latin typeface="맑은 고딕"/>
                <a:ea typeface="맑은 고딕"/>
              </a:rPr>
              <a:t>결론: 의학사적 의의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8138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  <a:ea typeface="맑은 고딕"/>
              </a:rPr>
              <a:t>허준이 남긴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7733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허준과 동의보감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36792"/>
            <a:ext cx="109728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263640"/>
            <a:ext cx="14630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구암 허준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63640"/>
            <a:ext cx="548640" cy="228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Key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367028"/>
            <a:ext cx="10088575" cy="13716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11480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집대성과 예방, 대중화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</a:rPr>
              <a:t>그리고 세계의 의서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6888175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허준은 동아시아 의학을 모아 조선의 실정에 맞게 다시 짰다.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한글 의서와 향약으로 의학 지식을 백성에게 넓혔고,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그의 책은 오늘날 세계기록유산으로 인정받는다.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2647873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5376" y="3657600"/>
            <a:ext cx="731520" cy="731520"/>
          </a:xfrm>
          <a:prstGeom prst="ellipse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365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A5CF0"/>
                </a:solidFill>
                <a:latin typeface="맑은 고딕"/>
                <a:ea typeface="맑은 고딕"/>
              </a:rPr>
              <a:t>집대성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동아시아 의학을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조선 실정에 맞게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3673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91850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0839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833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예방 중심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833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양생 사상을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의학의 바탕으로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0147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324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7313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지식의 대중화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한글 언해 의서와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향약 활용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6621" y="3429000"/>
            <a:ext cx="2647873" cy="2560320"/>
          </a:xfrm>
          <a:prstGeom prst="rect">
            <a:avLst/>
          </a:prstGeom>
          <a:solidFill>
            <a:srgbClr val="1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44798" y="3657600"/>
            <a:ext cx="731520" cy="731520"/>
          </a:xfrm>
          <a:prstGeom prst="ellipse">
            <a:avLst/>
          </a:prstGeom>
          <a:solidFill>
            <a:srgbClr val="1A5C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3787" y="3796588"/>
            <a:ext cx="453542" cy="453542"/>
          </a:xfrm>
          <a:prstGeom prst="ellipse">
            <a:avLst/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781" y="4498848"/>
            <a:ext cx="2373553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전염병 기록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3781" y="4892040"/>
            <a:ext cx="2373553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『벽역신방』 등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전염병 관찰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4247" y="6199632"/>
            <a:ext cx="274320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A5CF0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허준과 동의보감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