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오늘은 AI 모델 Claude를 만든 회사 Anthropic을 회사 개요, 제품, 안전 연구 순서로 소개합니다.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Anthropic은 스스로를 'AI 안전 및 연구 회사'라고 소개합니다. 이사회는 주주와 장기이익신탁(LTBT)이 함께 선출하는 구조로, 장기적 공익을 지배구조에 반영했습니다.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가격은 100만 토큰당 API 기준입니다. 모든 현행 모델은 100만 토큰 컨텍스트 창, 이미지 입력, 도구 사용을 지원합니다. 제품으로는 Claude 앱, Claude Code 등이 있고 AWS, Google Cloud, Microsoft Foundry에서도 쓸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Constitutional AI는 명문화된 원칙에 따라 모델이 자기 출력을 비평하고 수정하도록 학습하는 방법입니다. RSP의 ASL은 생물안전등급을 본뜬 체계입니다.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anthropic.com/company, platform.claude.com 모델 개요 문서, anthropic.com/rsp, Wikipedia 'Anthropic'. 감사합니다.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7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45775" cy="13716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Anthropic과 Claude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611880"/>
            <a:ext cx="1463040" cy="64008"/>
          </a:xfrm>
          <a:prstGeom prst="rect">
            <a:avLst/>
          </a:prstGeom>
          <a:solidFill>
            <a:srgbClr val="7A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1054577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DE3EC"/>
                </a:solidFill>
                <a:latin typeface="맑은 고딕"/>
                <a:ea typeface="맑은 고딕"/>
              </a:rPr>
              <a:t>AI 안전 및 연구 회사 소개</a:t>
            </a:r>
          </a:p>
          <a:p>
            <a:pPr algn="l"/>
            <a:r>
              <a:rPr sz="2000" b="0">
                <a:solidFill>
                  <a:srgbClr val="DDE3EC"/>
                </a:solidFill>
                <a:latin typeface="맑은 고딕"/>
                <a:ea typeface="맑은 고딕"/>
              </a:rPr>
              <a:t>2026-10-13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E8711A"/>
                </a:solidFill>
                <a:latin typeface="맑은 고딕"/>
                <a:ea typeface="맑은 고딕"/>
              </a:rPr>
              <a:t>서론: 회사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7A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Anthropic과 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441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000"/>
              </a:spcAft>
              <a:buClr>
                <a:srgbClr val="7A3E00"/>
              </a:buClr>
              <a:buChar char="■"/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</a:rPr>
              <a:t>2021년 1월 설립 — OpenAI 출신 연구진</a:t>
            </a:r>
          </a:p>
          <a:p>
            <a:pPr marL="548640" indent="-274320">
              <a:spcAft>
                <a:spcPts val="400"/>
              </a:spcAft>
              <a:buClr>
                <a:srgbClr val="7A3E00"/>
              </a:buClr>
              <a:buChar char="–"/>
            </a:pPr>
            <a:r>
              <a:rPr sz="1700" b="0">
                <a:solidFill>
                  <a:srgbClr val="222222"/>
                </a:solidFill>
                <a:latin typeface="맑은 고딕"/>
                <a:ea typeface="맑은 고딕"/>
              </a:rPr>
              <a:t>다리오 아모데이(CEO)·다니엘라 아모데이(사장)</a:t>
            </a:r>
          </a:p>
          <a:p>
            <a:pPr marL="274320" indent="-274320">
              <a:spcAft>
                <a:spcPts val="1000"/>
              </a:spcAft>
              <a:buClr>
                <a:srgbClr val="7A3E00"/>
              </a:buClr>
              <a:buChar char="■"/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</a:rPr>
              <a:t>본사: 미국 샌프란시스코</a:t>
            </a:r>
          </a:p>
          <a:p>
            <a:pPr marL="274320" indent="-274320">
              <a:spcAft>
                <a:spcPts val="1000"/>
              </a:spcAft>
              <a:buClr>
                <a:srgbClr val="7A3E00"/>
              </a:buClr>
              <a:buChar char="■"/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</a:rPr>
              <a:t>형태: 공익법인(Public Benefit Corporation)</a:t>
            </a:r>
          </a:p>
          <a:p>
            <a:pPr marL="274320" indent="-274320">
              <a:spcAft>
                <a:spcPts val="1000"/>
              </a:spcAft>
              <a:buClr>
                <a:srgbClr val="7A3E00"/>
              </a:buClr>
              <a:buChar char="■"/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</a:rPr>
              <a:t>목적: 인류의 장기적 이익을 위한 책임 있는 AI</a:t>
            </a:r>
          </a:p>
          <a:p>
            <a:pPr marL="274320" indent="-274320">
              <a:spcAft>
                <a:spcPts val="1000"/>
              </a:spcAft>
              <a:buClr>
                <a:srgbClr val="7A3E00"/>
              </a:buClr>
              <a:buChar char="■"/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</a:rPr>
              <a:t>지향: 신뢰·해석·조종 가능한 AI 시스템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E8711A"/>
                </a:solidFill>
                <a:latin typeface="맑은 고딕"/>
                <a:ea typeface="맑은 고딕"/>
              </a:rPr>
              <a:t>본론 1: Claude 모델 라인업 (2026년 10월)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7A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Anthropic과 Claude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94413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112"/>
                <a:gridCol w="5000299"/>
                <a:gridCol w="1718853"/>
                <a:gridCol w="2500149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모델</a:t>
                      </a:r>
                    </a:p>
                  </a:txBody>
                  <a:tcPr anchor="ctr" marL="109728" marR="109728">
                    <a:solidFill>
                      <a:srgbClr val="E87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용도</a:t>
                      </a:r>
                    </a:p>
                  </a:txBody>
                  <a:tcPr anchor="ctr" marL="109728" marR="109728">
                    <a:solidFill>
                      <a:srgbClr val="E87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속도</a:t>
                      </a:r>
                    </a:p>
                  </a:txBody>
                  <a:tcPr anchor="ctr" marL="109728" marR="109728">
                    <a:solidFill>
                      <a:srgbClr val="E87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가격(입력/출력)</a:t>
                      </a:r>
                    </a:p>
                  </a:txBody>
                  <a:tcPr anchor="ctr" marL="109728" marR="109728">
                    <a:solidFill>
                      <a:srgbClr val="E871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Fable 5.1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고난도 추론·장기 에이전트 작업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느림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$10 / $50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Opus 5.5</a:t>
                      </a:r>
                    </a:p>
                  </a:txBody>
                  <a:tcPr anchor="ctr" marL="109728" marR="109728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에이전트 코딩·지식 작업(기본 추천)</a:t>
                      </a:r>
                    </a:p>
                  </a:txBody>
                  <a:tcPr anchor="ctr" marL="109728" marR="109728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보통</a:t>
                      </a:r>
                    </a:p>
                  </a:txBody>
                  <a:tcPr anchor="ctr" marL="109728" marR="109728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$4 / $20</a:t>
                      </a:r>
                    </a:p>
                  </a:txBody>
                  <a:tcPr anchor="ctr" marL="109728" marR="109728">
                    <a:solidFill>
                      <a:srgbClr val="FDF1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Sonnet 5.5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속도와 지능의 최적 조합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빠름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$2 / $10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Haiku 5.5</a:t>
                      </a:r>
                    </a:p>
                  </a:txBody>
                  <a:tcPr anchor="ctr" marL="109728" marR="109728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대량·저지연 작업(분류·추출)</a:t>
                      </a:r>
                    </a:p>
                  </a:txBody>
                  <a:tcPr anchor="ctr" marL="109728" marR="109728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가장 빠름</a:t>
                      </a:r>
                    </a:p>
                  </a:txBody>
                  <a:tcPr anchor="ctr" marL="109728" marR="109728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$0.10~ / $0.50~</a:t>
                      </a:r>
                    </a:p>
                  </a:txBody>
                  <a:tcPr anchor="ctr" marL="109728" marR="109728">
                    <a:solidFill>
                      <a:srgbClr val="FDF1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E8711A"/>
                </a:solidFill>
                <a:latin typeface="맑은 고딕"/>
                <a:ea typeface="맑은 고딕"/>
              </a:rPr>
              <a:t>본론 2: 안전 연구와 정책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7A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Anthropic과 Claude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64327" cy="4663440"/>
          </a:xfrm>
          <a:prstGeom prst="rect">
            <a:avLst/>
          </a:prstGeom>
          <a:solidFill>
            <a:srgbClr val="FD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81568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8711A"/>
                </a:solidFill>
                <a:latin typeface="맑은 고딕"/>
                <a:ea typeface="맑은 고딕"/>
              </a:rPr>
              <a:t>핵심 연구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815687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000"/>
              </a:spcAft>
              <a:buClr>
                <a:srgbClr val="7A3E00"/>
              </a:buClr>
              <a:buChar char="■"/>
            </a:pPr>
            <a:r>
              <a:rPr sz="1800" b="0">
                <a:solidFill>
                  <a:srgbClr val="222222"/>
                </a:solidFill>
                <a:latin typeface="맑은 고딕"/>
                <a:ea typeface="맑은 고딕"/>
              </a:rPr>
              <a:t>Constitutional AI (2022.12)</a:t>
            </a:r>
          </a:p>
          <a:p>
            <a:pPr marL="274320" indent="-274320">
              <a:spcAft>
                <a:spcPts val="1000"/>
              </a:spcAft>
              <a:buClr>
                <a:srgbClr val="7A3E00"/>
              </a:buClr>
              <a:buChar char="■"/>
            </a:pPr>
            <a:r>
              <a:rPr sz="1800" b="0">
                <a:solidFill>
                  <a:srgbClr val="222222"/>
                </a:solidFill>
                <a:latin typeface="맑은 고딕"/>
                <a:ea typeface="맑은 고딕"/>
              </a:rPr>
              <a:t>원칙에 따라 스스로 비평·수정</a:t>
            </a:r>
          </a:p>
          <a:p>
            <a:pPr marL="274320" indent="-274320">
              <a:spcAft>
                <a:spcPts val="1000"/>
              </a:spcAft>
              <a:buClr>
                <a:srgbClr val="7A3E00"/>
              </a:buClr>
              <a:buChar char="■"/>
            </a:pPr>
            <a:r>
              <a:rPr sz="1800" b="0">
                <a:solidFill>
                  <a:srgbClr val="222222"/>
                </a:solidFill>
                <a:latin typeface="맑은 고딕"/>
                <a:ea typeface="맑은 고딕"/>
              </a:rPr>
              <a:t>해석 가능성: 신경망 역설계</a:t>
            </a:r>
          </a:p>
          <a:p>
            <a:pPr marL="274320" indent="-274320">
              <a:spcAft>
                <a:spcPts val="1000"/>
              </a:spcAft>
              <a:buClr>
                <a:srgbClr val="7A3E00"/>
              </a:buClr>
              <a:buChar char="■"/>
            </a:pPr>
            <a:r>
              <a:rPr sz="1800" b="0">
                <a:solidFill>
                  <a:srgbClr val="222222"/>
                </a:solidFill>
                <a:latin typeface="맑은 고딕"/>
                <a:ea typeface="맑은 고딕"/>
              </a:rPr>
              <a:t>Scaling Monosemanticity (2024.5)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1463040"/>
            <a:ext cx="5364327" cy="4663440"/>
          </a:xfrm>
          <a:prstGeom prst="rect">
            <a:avLst/>
          </a:prstGeom>
          <a:solidFill>
            <a:srgbClr val="FD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1645920"/>
            <a:ext cx="481568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8711A"/>
                </a:solidFill>
                <a:latin typeface="맑은 고딕"/>
                <a:ea typeface="맑은 고딕"/>
              </a:rPr>
              <a:t>책임 있는 확장 정책(RSP)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2331720"/>
            <a:ext cx="4815687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000"/>
              </a:spcAft>
              <a:buClr>
                <a:srgbClr val="7A3E00"/>
              </a:buClr>
              <a:buChar char="■"/>
            </a:pPr>
            <a:r>
              <a:rPr sz="1800" b="0">
                <a:solidFill>
                  <a:srgbClr val="222222"/>
                </a:solidFill>
                <a:latin typeface="맑은 고딕"/>
                <a:ea typeface="맑은 고딕"/>
              </a:rPr>
              <a:t>v1 도입 (2023.9)</a:t>
            </a:r>
          </a:p>
          <a:p>
            <a:pPr marL="274320" indent="-274320">
              <a:spcAft>
                <a:spcPts val="1000"/>
              </a:spcAft>
              <a:buClr>
                <a:srgbClr val="7A3E00"/>
              </a:buClr>
              <a:buChar char="■"/>
            </a:pPr>
            <a:r>
              <a:rPr sz="1800" b="0">
                <a:solidFill>
                  <a:srgbClr val="222222"/>
                </a:solidFill>
                <a:latin typeface="맑은 고딕"/>
                <a:ea typeface="맑은 고딕"/>
              </a:rPr>
              <a:t>AI 안전 등급(ASL) 단계 체계</a:t>
            </a:r>
          </a:p>
          <a:p>
            <a:pPr marL="274320" indent="-274320">
              <a:spcAft>
                <a:spcPts val="1000"/>
              </a:spcAft>
              <a:buClr>
                <a:srgbClr val="7A3E00"/>
              </a:buClr>
              <a:buChar char="■"/>
            </a:pPr>
            <a:r>
              <a:rPr sz="1800" b="0">
                <a:solidFill>
                  <a:srgbClr val="222222"/>
                </a:solidFill>
                <a:latin typeface="맑은 고딕"/>
                <a:ea typeface="맑은 고딕"/>
              </a:rPr>
              <a:t>안전 조치 미흡 시 학습 중단 가능</a:t>
            </a:r>
          </a:p>
          <a:p>
            <a:pPr marL="274320" indent="-274320">
              <a:spcAft>
                <a:spcPts val="1000"/>
              </a:spcAft>
              <a:buClr>
                <a:srgbClr val="7A3E00"/>
              </a:buClr>
              <a:buChar char="■"/>
            </a:pPr>
            <a:r>
              <a:rPr sz="1800" b="0">
                <a:solidFill>
                  <a:srgbClr val="222222"/>
                </a:solidFill>
                <a:latin typeface="맑은 고딕"/>
                <a:ea typeface="맑은 고딕"/>
              </a:rPr>
              <a:t>v3.2 시행 (2026.4)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E8711A"/>
                </a:solidFill>
                <a:latin typeface="맑은 고딕"/>
                <a:ea typeface="맑은 고딕"/>
              </a:rPr>
              <a:t>결론: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7A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Anthropic과 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441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000"/>
              </a:spcAft>
              <a:buClr>
                <a:srgbClr val="7A3E00"/>
              </a:buClr>
              <a:buChar char="■"/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</a:rPr>
              <a:t>안전을 과학으로 다루는 AI 연구 회사</a:t>
            </a:r>
          </a:p>
          <a:p>
            <a:pPr marL="274320" indent="-274320">
              <a:spcAft>
                <a:spcPts val="1000"/>
              </a:spcAft>
              <a:buClr>
                <a:srgbClr val="7A3E00"/>
              </a:buClr>
              <a:buChar char="■"/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</a:rPr>
              <a:t>공익법인 + 장기이익신탁 지배구조</a:t>
            </a:r>
          </a:p>
          <a:p>
            <a:pPr marL="274320" indent="-274320">
              <a:spcAft>
                <a:spcPts val="1000"/>
              </a:spcAft>
              <a:buClr>
                <a:srgbClr val="7A3E00"/>
              </a:buClr>
              <a:buChar char="■"/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</a:rPr>
              <a:t>Fable·Opus·Sonnet·Haiku 모델 라인업</a:t>
            </a:r>
          </a:p>
          <a:p>
            <a:pPr marL="274320" indent="-274320">
              <a:spcAft>
                <a:spcPts val="1000"/>
              </a:spcAft>
              <a:buClr>
                <a:srgbClr val="7A3E00"/>
              </a:buClr>
              <a:buChar char="■"/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</a:rPr>
              <a:t>연구 성과를 제품에 적용하고 공개 공유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Anthropic과 Claude</dc:title>
  <dc:subject/>
  <dc:creator>클로드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