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권수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Sheet1!$A$2:$A$7</c:f>
              <c:strCache>
                <c:ptCount val="6"/>
                <c:pt idx="0">
                  <c:v>목록</c:v>
                </c:pt>
                <c:pt idx="1">
                  <c:v>내경편</c:v>
                </c:pt>
                <c:pt idx="2">
                  <c:v>외형편</c:v>
                </c:pt>
                <c:pt idx="3">
                  <c:v>잡병편</c:v>
                </c:pt>
                <c:pt idx="4">
                  <c:v>탕액편</c:v>
                </c:pt>
                <c:pt idx="5">
                  <c:v>침구편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</c:v>
                </c:pt>
                <c:pt idx="1">
                  <c:v>4</c:v>
                </c:pt>
                <c:pt idx="2">
                  <c:v>4</c:v>
                </c:pt>
                <c:pt idx="3">
                  <c:v>11</c:v>
                </c:pt>
                <c:pt idx="4">
                  <c:v>3</c:v>
                </c:pt>
                <c:pt idx="5">
                  <c:v>1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>
                  <a:latin typeface="맑은 고딕"/>
                  <a:ea typeface="맑은 고딕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400">
          <a:solidFill>
            <a:srgbClr val="222222"/>
          </a:solidFill>
          <a:latin typeface="맑은 고딕"/>
          <a:ea typeface="맑은 고딕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자료: research/허준_자료조사_v2.md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할아버지 허곤은 경상우수사, 아버지 허론은 용천부사. 어머니 영광 김씨는 소실. 묘소는 경기도 파주시 진동면 하포리(1991년 확인).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1606년 정1품 품계를 받았으나 중인 신분에 지나치다는 대간의 반대로 보류됨.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편찬 시작 후 약 14년, 준비 기간을 포함하면 16년이라고도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내경편: 몸 안의 장부와 생리 / 외형편: 몸 바깥의 병 / 잡병편: 여러 질병, 부인과·소아과 포함 / 탕액편: 약재 / 침구편: 침과 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첫머리에 신형장부도(身形臟腑圖)를 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언해 의서는 한문을 모르는 백성도 읽을 수 있게 해 의학 지식 대중화에 이바지함.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소설 『동의보감』(이은성), 드라마 「허준」(1999), 「구암 허준」(2013).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10545775" cy="13716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맑은 고딕"/>
                <a:ea typeface="맑은 고딕"/>
              </a:rPr>
              <a:t>허준과 『동의보감』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3611880"/>
            <a:ext cx="1463040" cy="64008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0"/>
            <a:ext cx="1054577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DDE3EC"/>
                </a:solidFill>
                <a:latin typeface="맑은 고딕"/>
                <a:ea typeface="맑은 고딕"/>
              </a:rPr>
              <a:t>조선 의학을 집대성한 의학자</a:t>
            </a:r>
          </a:p>
          <a:p>
            <a:pPr algn="l"/>
            <a:r>
              <a:rPr sz="2000" b="0">
                <a:solidFill>
                  <a:srgbClr val="DDE3EC"/>
                </a:solidFill>
                <a:latin typeface="맑은 고딕"/>
                <a:ea typeface="맑은 고딕"/>
              </a:rPr>
              <a:t>2026-10-13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F3864"/>
                </a:solidFill>
                <a:latin typeface="맑은 고딕"/>
                <a:ea typeface="맑은 고딕"/>
              </a:rPr>
              <a:t>발표 순서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28655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  <a:ea typeface="맑은 고딕"/>
              </a:rPr>
              <a:t>허준과 『동의보감』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9441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1000"/>
              </a:spcAft>
              <a:buClr>
                <a:srgbClr val="C55A11"/>
              </a:buClr>
              <a:buChar char="■"/>
            </a:pPr>
            <a:r>
              <a:rPr sz="2000" b="0">
                <a:solidFill>
                  <a:srgbClr val="222222"/>
                </a:solidFill>
                <a:latin typeface="맑은 고딕"/>
                <a:ea typeface="맑은 고딕"/>
              </a:rPr>
              <a:t>서론 — 허준은 누구인가</a:t>
            </a:r>
          </a:p>
          <a:p>
            <a:pPr marL="274320" indent="-274320">
              <a:spcAft>
                <a:spcPts val="1000"/>
              </a:spcAft>
              <a:buClr>
                <a:srgbClr val="C55A11"/>
              </a:buClr>
              <a:buChar char="■"/>
            </a:pPr>
            <a:r>
              <a:rPr sz="2000" b="0">
                <a:solidFill>
                  <a:srgbClr val="222222"/>
                </a:solidFill>
                <a:latin typeface="맑은 고딕"/>
                <a:ea typeface="맑은 고딕"/>
              </a:rPr>
              <a:t>본론 1 — 생애와 관직 활동</a:t>
            </a:r>
          </a:p>
          <a:p>
            <a:pPr marL="274320" indent="-274320">
              <a:spcAft>
                <a:spcPts val="1000"/>
              </a:spcAft>
              <a:buClr>
                <a:srgbClr val="C55A11"/>
              </a:buClr>
              <a:buChar char="■"/>
            </a:pPr>
            <a:r>
              <a:rPr sz="2000" b="0">
                <a:solidFill>
                  <a:srgbClr val="222222"/>
                </a:solidFill>
                <a:latin typeface="맑은 고딕"/>
                <a:ea typeface="맑은 고딕"/>
              </a:rPr>
              <a:t>본론 2 — 『동의보감』의 편찬과 구성</a:t>
            </a:r>
          </a:p>
          <a:p>
            <a:pPr marL="274320" indent="-274320">
              <a:spcAft>
                <a:spcPts val="1000"/>
              </a:spcAft>
              <a:buClr>
                <a:srgbClr val="C55A11"/>
              </a:buClr>
              <a:buChar char="■"/>
            </a:pPr>
            <a:r>
              <a:rPr sz="2000" b="0">
                <a:solidFill>
                  <a:srgbClr val="222222"/>
                </a:solidFill>
                <a:latin typeface="맑은 고딕"/>
                <a:ea typeface="맑은 고딕"/>
              </a:rPr>
              <a:t>본론 3 — 특징과 국외 평가</a:t>
            </a:r>
          </a:p>
          <a:p>
            <a:pPr marL="274320" indent="-274320">
              <a:spcAft>
                <a:spcPts val="1000"/>
              </a:spcAft>
              <a:buClr>
                <a:srgbClr val="C55A11"/>
              </a:buClr>
              <a:buChar char="■"/>
            </a:pPr>
            <a:r>
              <a:rPr sz="2000" b="0">
                <a:solidFill>
                  <a:srgbClr val="222222"/>
                </a:solidFill>
                <a:latin typeface="맑은 고딕"/>
                <a:ea typeface="맑은 고딕"/>
              </a:rPr>
              <a:t>본론 4 — 그 밖의 저서, 사실과 각색</a:t>
            </a:r>
          </a:p>
          <a:p>
            <a:pPr marL="274320" indent="-274320">
              <a:spcAft>
                <a:spcPts val="1000"/>
              </a:spcAft>
              <a:buClr>
                <a:srgbClr val="C55A11"/>
              </a:buClr>
              <a:buChar char="■"/>
            </a:pPr>
            <a:r>
              <a:rPr sz="2000" b="0">
                <a:solidFill>
                  <a:srgbClr val="222222"/>
                </a:solidFill>
                <a:latin typeface="맑은 고딕"/>
                <a:ea typeface="맑은 고딕"/>
              </a:rPr>
              <a:t>결론 — 의학사적 의의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F3864"/>
                </a:solidFill>
                <a:latin typeface="맑은 고딕"/>
                <a:ea typeface="맑은 고딕"/>
              </a:rPr>
              <a:t>서론 — 허준은 누구인가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28655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  <a:ea typeface="맑은 고딕"/>
              </a:rPr>
              <a:t>허준과 『동의보감』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63040"/>
          <a:ext cx="11094415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8883"/>
                <a:gridCol w="8875532"/>
              </a:tblGrid>
              <a:tr h="4572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항목</a:t>
                      </a:r>
                    </a:p>
                  </a:txBody>
                  <a:tcPr anchor="ctr" marL="109728" marR="109728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내용</a:t>
                      </a:r>
                    </a:p>
                  </a:txBody>
                  <a:tcPr anchor="ctr" marL="109728" marR="109728"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이름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허준(許浚) / 호 구암(龜巖)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본관 / 자</a:t>
                      </a:r>
                    </a:p>
                  </a:txBody>
                  <a:tcPr anchor="ctr" marL="109728" marR="10972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양천(陽川) / 청원(淸源)</a:t>
                      </a:r>
                    </a:p>
                  </a:txBody>
                  <a:tcPr anchor="ctr" marL="109728" marR="109728">
                    <a:solidFill>
                      <a:srgbClr val="EEF2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생몰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1539년(중종 34) ~ 1615년(광해군 7)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출생지</a:t>
                      </a:r>
                    </a:p>
                  </a:txBody>
                  <a:tcPr anchor="ctr" marL="109728" marR="10972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경기도 양천현 파릉리(현 서울 강서구 가양동 일대)</a:t>
                      </a:r>
                    </a:p>
                  </a:txBody>
                  <a:tcPr anchor="ctr" marL="109728" marR="109728">
                    <a:solidFill>
                      <a:srgbClr val="EEF2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신분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무관 집안의 서자(庶子)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대표 저서</a:t>
                      </a:r>
                    </a:p>
                  </a:txBody>
                  <a:tcPr anchor="ctr" marL="109728" marR="10972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『동의보감』 25권 25책</a:t>
                      </a:r>
                    </a:p>
                  </a:txBody>
                  <a:tcPr anchor="ctr" marL="109728" marR="109728"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C55A11"/>
                </a:solidFill>
                <a:latin typeface="맑은 고딕"/>
                <a:ea typeface="맑은 고딕"/>
              </a:rPr>
              <a:t>본론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4577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1F3864"/>
                </a:solidFill>
                <a:latin typeface="맑은 고딕"/>
                <a:ea typeface="맑은 고딕"/>
              </a:rPr>
              <a:t>생애와 관직 활동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F3864"/>
                </a:solidFill>
                <a:latin typeface="맑은 고딕"/>
                <a:ea typeface="맑은 고딕"/>
              </a:rPr>
              <a:t>내의원 입문과 승진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28655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  <a:ea typeface="맑은 고딕"/>
              </a:rPr>
              <a:t>허준과 『동의보감』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9441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1000"/>
              </a:spcAft>
              <a:buClr>
                <a:srgbClr val="C55A11"/>
              </a:buClr>
              <a:buChar char="■"/>
            </a:pPr>
            <a:r>
              <a:rPr sz="2000" b="0">
                <a:solidFill>
                  <a:srgbClr val="222222"/>
                </a:solidFill>
                <a:latin typeface="맑은 고딕"/>
                <a:ea typeface="맑은 고딕"/>
              </a:rPr>
              <a:t>서자라 문과 응시 불가 → 의학의 길</a:t>
            </a:r>
          </a:p>
          <a:p>
            <a:pPr marL="548640" indent="-274320">
              <a:spcAft>
                <a:spcPts val="400"/>
              </a:spcAft>
              <a:buClr>
                <a:srgbClr val="C55A11"/>
              </a:buClr>
              <a:buChar char="–"/>
            </a:pPr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1569년 무렵 유희춘의 추천으로 내의원 입문</a:t>
            </a:r>
          </a:p>
          <a:p>
            <a:pPr marL="274320" indent="-274320">
              <a:spcAft>
                <a:spcPts val="1000"/>
              </a:spcAft>
              <a:buClr>
                <a:srgbClr val="C55A11"/>
              </a:buClr>
              <a:buChar char="■"/>
            </a:pPr>
            <a:r>
              <a:rPr sz="2000" b="0">
                <a:solidFill>
                  <a:srgbClr val="222222"/>
                </a:solidFill>
                <a:latin typeface="맑은 고딕"/>
                <a:ea typeface="맑은 고딕"/>
              </a:rPr>
              <a:t>선조의 어의(御醫)로 왕실 진료</a:t>
            </a:r>
          </a:p>
          <a:p>
            <a:pPr marL="274320" indent="-274320">
              <a:spcAft>
                <a:spcPts val="1000"/>
              </a:spcAft>
              <a:buClr>
                <a:srgbClr val="C55A11"/>
              </a:buClr>
              <a:buChar char="■"/>
            </a:pPr>
            <a:r>
              <a:rPr sz="2000" b="0">
                <a:solidFill>
                  <a:srgbClr val="222222"/>
                </a:solidFill>
                <a:latin typeface="맑은 고딕"/>
                <a:ea typeface="맑은 고딕"/>
              </a:rPr>
              <a:t>1590년 왕자(광해군)의 두창 치료 → 당상관</a:t>
            </a:r>
          </a:p>
          <a:p>
            <a:pPr marL="548640" indent="-274320">
              <a:spcAft>
                <a:spcPts val="400"/>
              </a:spcAft>
              <a:buClr>
                <a:srgbClr val="C55A11"/>
              </a:buClr>
              <a:buChar char="–"/>
            </a:pPr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낮은 신분의 의관 승진에 조정 반발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F3864"/>
                </a:solidFill>
                <a:latin typeface="맑은 고딕"/>
                <a:ea typeface="맑은 고딕"/>
              </a:rPr>
              <a:t>임진왜란, 유배와 복귀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28655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맑은 고딕"/>
                <a:ea typeface="맑은 고딕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  <a:ea typeface="맑은 고딕"/>
              </a:rPr>
              <a:t>허준과 『동의보감』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9441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1000"/>
              </a:spcAft>
              <a:buClr>
                <a:srgbClr val="C55A11"/>
              </a:buClr>
              <a:buChar char="■"/>
            </a:pPr>
            <a:r>
              <a:rPr sz="2000" b="0">
                <a:solidFill>
                  <a:srgbClr val="222222"/>
                </a:solidFill>
                <a:latin typeface="맑은 고딕"/>
                <a:ea typeface="맑은 고딕"/>
              </a:rPr>
              <a:t>1592년 임진왜란 — 선조를 의주까지 호종</a:t>
            </a:r>
          </a:p>
          <a:p>
            <a:pPr marL="274320" indent="-274320">
              <a:spcAft>
                <a:spcPts val="1000"/>
              </a:spcAft>
              <a:buClr>
                <a:srgbClr val="C55A11"/>
              </a:buClr>
              <a:buChar char="■"/>
            </a:pPr>
            <a:r>
              <a:rPr sz="2000" b="0">
                <a:solidFill>
                  <a:srgbClr val="222222"/>
                </a:solidFill>
                <a:latin typeface="맑은 고딕"/>
                <a:ea typeface="맑은 고딕"/>
              </a:rPr>
              <a:t>1604년 호성공신 3등, 양평군 책봉</a:t>
            </a:r>
          </a:p>
          <a:p>
            <a:pPr marL="274320" indent="-274320">
              <a:spcAft>
                <a:spcPts val="1000"/>
              </a:spcAft>
              <a:buClr>
                <a:srgbClr val="C55A11"/>
              </a:buClr>
              <a:buChar char="■"/>
            </a:pPr>
            <a:r>
              <a:rPr sz="2000" b="0">
                <a:solidFill>
                  <a:srgbClr val="222222"/>
                </a:solidFill>
                <a:latin typeface="맑은 고딕"/>
                <a:ea typeface="맑은 고딕"/>
              </a:rPr>
              <a:t>1608년 선조 승하 책임으로 유배</a:t>
            </a:r>
          </a:p>
          <a:p>
            <a:pPr marL="548640" indent="-274320">
              <a:spcAft>
                <a:spcPts val="400"/>
              </a:spcAft>
              <a:buClr>
                <a:srgbClr val="C55A11"/>
              </a:buClr>
              <a:buChar char="–"/>
            </a:pPr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유배 기간 『동의보감』 집필에 집중</a:t>
            </a:r>
          </a:p>
          <a:p>
            <a:pPr marL="274320" indent="-274320">
              <a:spcAft>
                <a:spcPts val="1000"/>
              </a:spcAft>
              <a:buClr>
                <a:srgbClr val="C55A11"/>
              </a:buClr>
              <a:buChar char="■"/>
            </a:pPr>
            <a:r>
              <a:rPr sz="2000" b="0">
                <a:solidFill>
                  <a:srgbClr val="222222"/>
                </a:solidFill>
                <a:latin typeface="맑은 고딕"/>
                <a:ea typeface="맑은 고딕"/>
              </a:rPr>
              <a:t>1609년 광해군의 명으로 어의 복귀</a:t>
            </a:r>
          </a:p>
          <a:p>
            <a:pPr marL="274320" indent="-274320">
              <a:spcAft>
                <a:spcPts val="1000"/>
              </a:spcAft>
              <a:buClr>
                <a:srgbClr val="C55A11"/>
              </a:buClr>
              <a:buChar char="■"/>
            </a:pPr>
            <a:r>
              <a:rPr sz="2000" b="0">
                <a:solidFill>
                  <a:srgbClr val="222222"/>
                </a:solidFill>
                <a:latin typeface="맑은 고딕"/>
                <a:ea typeface="맑은 고딕"/>
              </a:rPr>
              <a:t>1615년 별세, 정1품 보국숭록대부 추증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C55A11"/>
                </a:solidFill>
                <a:latin typeface="맑은 고딕"/>
                <a:ea typeface="맑은 고딕"/>
              </a:rPr>
              <a:t>본론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4577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1F3864"/>
                </a:solidFill>
                <a:latin typeface="맑은 고딕"/>
                <a:ea typeface="맑은 고딕"/>
              </a:rPr>
              <a:t>『동의보감』의 편찬과 구성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F3864"/>
                </a:solidFill>
                <a:latin typeface="맑은 고딕"/>
                <a:ea typeface="맑은 고딕"/>
              </a:rPr>
              <a:t>편찬 과정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28655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맑은 고딕"/>
                <a:ea typeface="맑은 고딕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  <a:ea typeface="맑은 고딕"/>
              </a:rPr>
              <a:t>허준과 『동의보감』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63040"/>
          <a:ext cx="11094414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1271"/>
                <a:gridCol w="8373143"/>
              </a:tblGrid>
              <a:tr h="4572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연도</a:t>
                      </a:r>
                    </a:p>
                  </a:txBody>
                  <a:tcPr anchor="ctr" marL="109728" marR="109728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내용</a:t>
                      </a:r>
                    </a:p>
                  </a:txBody>
                  <a:tcPr anchor="ctr" marL="109728" marR="109728"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1596년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선조의 명으로 편찬 시작(정작·양예수 등과 함께)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1597년</a:t>
                      </a:r>
                    </a:p>
                  </a:txBody>
                  <a:tcPr anchor="ctr" marL="109728" marR="10972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정유재란으로 편찬진이 흩어져 중단</a:t>
                      </a:r>
                    </a:p>
                  </a:txBody>
                  <a:tcPr anchor="ctr" marL="109728" marR="109728">
                    <a:solidFill>
                      <a:srgbClr val="EEF2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이후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내장방서 500권을 받아 허준 혼자 편찬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1608~1609년</a:t>
                      </a:r>
                    </a:p>
                  </a:txBody>
                  <a:tcPr anchor="ctr" marL="109728" marR="10972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유배 기간에 집필 집중</a:t>
                      </a:r>
                    </a:p>
                  </a:txBody>
                  <a:tcPr anchor="ctr" marL="109728" marR="109728">
                    <a:solidFill>
                      <a:srgbClr val="EEF2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1610년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완성하여 광해군에게 바침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1613년</a:t>
                      </a:r>
                    </a:p>
                  </a:txBody>
                  <a:tcPr anchor="ctr" marL="109728" marR="10972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내의원에서 목활자로 간행</a:t>
                      </a:r>
                    </a:p>
                  </a:txBody>
                  <a:tcPr anchor="ctr" marL="109728" marR="109728"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F3864"/>
                </a:solidFill>
                <a:latin typeface="맑은 고딕"/>
                <a:ea typeface="맑은 고딕"/>
              </a:rPr>
              <a:t>구성 — 편별 권수 (총 25권)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28655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맑은 고딕"/>
                <a:ea typeface="맑은 고딕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  <a:ea typeface="맑은 고딕"/>
              </a:rPr>
              <a:t>허준과 『동의보감』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463040"/>
          <a:ext cx="11094415" cy="46634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C55A11"/>
                </a:solidFill>
                <a:latin typeface="맑은 고딕"/>
                <a:ea typeface="맑은 고딕"/>
              </a:rPr>
              <a:t>본론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4577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1F3864"/>
                </a:solidFill>
                <a:latin typeface="맑은 고딕"/>
                <a:ea typeface="맑은 고딕"/>
              </a:rPr>
              <a:t>특징과 국외 평가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F3864"/>
                </a:solidFill>
                <a:latin typeface="맑은 고딕"/>
                <a:ea typeface="맑은 고딕"/>
              </a:rPr>
              <a:t>『동의보감』의 특징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28655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맑은 고딕"/>
                <a:ea typeface="맑은 고딕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  <a:ea typeface="맑은 고딕"/>
              </a:rPr>
              <a:t>허준과 『동의보감』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9441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1000"/>
              </a:spcAft>
              <a:buClr>
                <a:srgbClr val="C55A11"/>
              </a:buClr>
              <a:buChar char="■"/>
            </a:pPr>
            <a:r>
              <a:rPr sz="2000" b="0">
                <a:solidFill>
                  <a:srgbClr val="222222"/>
                </a:solidFill>
                <a:latin typeface="맑은 고딕"/>
                <a:ea typeface="맑은 고딕"/>
              </a:rPr>
              <a:t>양생 중심 — 치료보다 예방을 중시</a:t>
            </a:r>
          </a:p>
          <a:p>
            <a:pPr marL="274320" indent="-274320">
              <a:spcAft>
                <a:spcPts val="1000"/>
              </a:spcAft>
              <a:buClr>
                <a:srgbClr val="C55A11"/>
              </a:buClr>
              <a:buChar char="■"/>
            </a:pPr>
            <a:r>
              <a:rPr sz="2000" b="0">
                <a:solidFill>
                  <a:srgbClr val="222222"/>
                </a:solidFill>
                <a:latin typeface="맑은 고딕"/>
                <a:ea typeface="맑은 고딕"/>
              </a:rPr>
              <a:t>체계적 정리 — 수백 종 의서를 정리하고 출처 표기</a:t>
            </a:r>
          </a:p>
          <a:p>
            <a:pPr marL="274320" indent="-274320">
              <a:spcAft>
                <a:spcPts val="1000"/>
              </a:spcAft>
              <a:buClr>
                <a:srgbClr val="C55A11"/>
              </a:buClr>
              <a:buChar char="■"/>
            </a:pPr>
            <a:r>
              <a:rPr sz="2000" b="0">
                <a:solidFill>
                  <a:srgbClr val="222222"/>
                </a:solidFill>
                <a:latin typeface="맑은 고딕"/>
                <a:ea typeface="맑은 고딕"/>
              </a:rPr>
              <a:t>실용성 — 증상 → 원인 → 처방 순서</a:t>
            </a:r>
          </a:p>
          <a:p>
            <a:pPr marL="274320" indent="-274320">
              <a:spcAft>
                <a:spcPts val="1000"/>
              </a:spcAft>
              <a:buClr>
                <a:srgbClr val="C55A11"/>
              </a:buClr>
              <a:buChar char="■"/>
            </a:pPr>
            <a:r>
              <a:rPr sz="2000" b="0">
                <a:solidFill>
                  <a:srgbClr val="222222"/>
                </a:solidFill>
                <a:latin typeface="맑은 고딕"/>
                <a:ea typeface="맑은 고딕"/>
              </a:rPr>
              <a:t>향약 활용 — 조선 약재에 한글 이름 병기</a:t>
            </a:r>
          </a:p>
          <a:p>
            <a:pPr marL="274320" indent="-274320">
              <a:spcAft>
                <a:spcPts val="1000"/>
              </a:spcAft>
              <a:buClr>
                <a:srgbClr val="C55A11"/>
              </a:buClr>
              <a:buChar char="■"/>
            </a:pPr>
            <a:r>
              <a:rPr sz="2000" b="0">
                <a:solidFill>
                  <a:srgbClr val="222222"/>
                </a:solidFill>
                <a:latin typeface="맑은 고딕"/>
                <a:ea typeface="맑은 고딕"/>
              </a:rPr>
              <a:t>'동의(東醫)' — 조선 의학의 전통을 내세움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F3864"/>
                </a:solidFill>
                <a:latin typeface="맑은 고딕"/>
                <a:ea typeface="맑은 고딕"/>
              </a:rPr>
              <a:t>국외 전파와 평가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28655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맑은 고딕"/>
                <a:ea typeface="맑은 고딕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  <a:ea typeface="맑은 고딕"/>
              </a:rPr>
              <a:t>허준과 『동의보감』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9441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1000"/>
              </a:spcAft>
              <a:buClr>
                <a:srgbClr val="C55A11"/>
              </a:buClr>
              <a:buChar char="■"/>
            </a:pPr>
            <a:r>
              <a:rPr sz="2000" b="0">
                <a:solidFill>
                  <a:srgbClr val="222222"/>
                </a:solidFill>
                <a:latin typeface="맑은 고딕"/>
                <a:ea typeface="맑은 고딕"/>
              </a:rPr>
              <a:t>중국 — 20세기 전까지 약 17종 간행</a:t>
            </a:r>
          </a:p>
          <a:p>
            <a:pPr marL="548640" indent="-274320">
              <a:spcAft>
                <a:spcPts val="400"/>
              </a:spcAft>
              <a:buClr>
                <a:srgbClr val="C55A11"/>
              </a:buClr>
              <a:buChar char="–"/>
            </a:pPr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한국인 저서 중 중국에서 가장 많이 간행</a:t>
            </a:r>
          </a:p>
          <a:p>
            <a:pPr marL="274320" indent="-274320">
              <a:spcAft>
                <a:spcPts val="1000"/>
              </a:spcAft>
              <a:buClr>
                <a:srgbClr val="C55A11"/>
              </a:buClr>
              <a:buChar char="■"/>
            </a:pPr>
            <a:r>
              <a:rPr sz="2000" b="0">
                <a:solidFill>
                  <a:srgbClr val="222222"/>
                </a:solidFill>
                <a:latin typeface="맑은 고딕"/>
                <a:ea typeface="맑은 고딕"/>
              </a:rPr>
              <a:t>일본 — 1724년 교토 간행, 에도 의학에 영향</a:t>
            </a:r>
          </a:p>
          <a:p>
            <a:pPr marL="274320" indent="-274320">
              <a:spcAft>
                <a:spcPts val="1000"/>
              </a:spcAft>
              <a:buClr>
                <a:srgbClr val="C55A11"/>
              </a:buClr>
              <a:buChar char="■"/>
            </a:pPr>
            <a:r>
              <a:rPr sz="2000" b="0">
                <a:solidFill>
                  <a:srgbClr val="222222"/>
                </a:solidFill>
                <a:latin typeface="맑은 고딕"/>
                <a:ea typeface="맑은 고딕"/>
              </a:rPr>
              <a:t>2009년 유네스코 세계기록유산 등재</a:t>
            </a:r>
          </a:p>
          <a:p>
            <a:pPr marL="548640" indent="-274320">
              <a:spcAft>
                <a:spcPts val="400"/>
              </a:spcAft>
              <a:buClr>
                <a:srgbClr val="C55A11"/>
              </a:buClr>
              <a:buChar char="–"/>
            </a:pPr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의학서로는 처음</a:t>
            </a:r>
          </a:p>
          <a:p>
            <a:pPr marL="274320" indent="-274320">
              <a:spcAft>
                <a:spcPts val="1000"/>
              </a:spcAft>
              <a:buClr>
                <a:srgbClr val="C55A11"/>
              </a:buClr>
              <a:buChar char="■"/>
            </a:pPr>
            <a:r>
              <a:rPr sz="2000" b="0">
                <a:solidFill>
                  <a:srgbClr val="222222"/>
                </a:solidFill>
                <a:latin typeface="맑은 고딕"/>
                <a:ea typeface="맑은 고딕"/>
              </a:rPr>
              <a:t>2015년 보물에서 국보로 승격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C55A11"/>
                </a:solidFill>
                <a:latin typeface="맑은 고딕"/>
                <a:ea typeface="맑은 고딕"/>
              </a:rPr>
              <a:t>본론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4577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1F3864"/>
                </a:solidFill>
                <a:latin typeface="맑은 고딕"/>
                <a:ea typeface="맑은 고딕"/>
              </a:rPr>
              <a:t>그 밖의 저서, 사실과 각색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F3864"/>
                </a:solidFill>
                <a:latin typeface="맑은 고딕"/>
                <a:ea typeface="맑은 고딕"/>
              </a:rPr>
              <a:t>그 밖의 저서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28655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맑은 고딕"/>
                <a:ea typeface="맑은 고딕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  <a:ea typeface="맑은 고딕"/>
              </a:rPr>
              <a:t>허준과 『동의보감』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63040"/>
          <a:ext cx="11094414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86816"/>
                <a:gridCol w="1901899"/>
                <a:gridCol w="5705699"/>
              </a:tblGrid>
              <a:tr h="4572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책 이름</a:t>
                      </a:r>
                    </a:p>
                  </a:txBody>
                  <a:tcPr anchor="ctr" marL="109728" marR="109728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연도</a:t>
                      </a:r>
                    </a:p>
                  </a:txBody>
                  <a:tcPr anchor="ctr" marL="109728" marR="109728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내용</a:t>
                      </a:r>
                    </a:p>
                  </a:txBody>
                  <a:tcPr anchor="ctr" marL="109728" marR="109728"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『언해구급방』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1601~1607년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응급 처치법을 한글로 풀이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『언해두창집요』</a:t>
                      </a:r>
                    </a:p>
                  </a:txBody>
                  <a:tcPr anchor="ctr" marL="109728" marR="10972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1608년</a:t>
                      </a:r>
                    </a:p>
                  </a:txBody>
                  <a:tcPr anchor="ctr" marL="109728" marR="10972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두창(천연두) 치료법 한글 풀이</a:t>
                      </a:r>
                    </a:p>
                  </a:txBody>
                  <a:tcPr anchor="ctr" marL="109728" marR="109728">
                    <a:solidFill>
                      <a:srgbClr val="EEF2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『언해태산집요』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1608년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임신·출산 치료 한글 풀이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『신찬벽온방』</a:t>
                      </a:r>
                    </a:p>
                  </a:txBody>
                  <a:tcPr anchor="ctr" marL="109728" marR="10972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1613년</a:t>
                      </a:r>
                    </a:p>
                  </a:txBody>
                  <a:tcPr anchor="ctr" marL="109728" marR="10972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열성 전염병의 예방과 치료</a:t>
                      </a:r>
                    </a:p>
                  </a:txBody>
                  <a:tcPr anchor="ctr" marL="109728" marR="109728">
                    <a:solidFill>
                      <a:srgbClr val="EEF2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『벽역신방』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1613년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당독역(성홍열 추정) 관찰과 치료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F3864"/>
                </a:solidFill>
                <a:latin typeface="맑은 고딕"/>
                <a:ea typeface="맑은 고딕"/>
              </a:rPr>
              <a:t>사실과 각색의 구분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28655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맑은 고딕"/>
                <a:ea typeface="맑은 고딕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  <a:ea typeface="맑은 고딕"/>
              </a:rPr>
              <a:t>허준과 『동의보감』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5364327" cy="466344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4815687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맑은 고딕"/>
                <a:ea typeface="맑은 고딕"/>
              </a:rPr>
              <a:t>기록으로 확인된 사실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4815687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1000"/>
              </a:spcAft>
              <a:buClr>
                <a:srgbClr val="C55A11"/>
              </a:buClr>
              <a:buChar char="■"/>
            </a:pPr>
            <a:r>
              <a:rPr sz="1800" b="0">
                <a:solidFill>
                  <a:srgbClr val="222222"/>
                </a:solidFill>
                <a:latin typeface="맑은 고딕"/>
                <a:ea typeface="맑은 고딕"/>
              </a:rPr>
              <a:t>실록 등 기록에 남은 행적</a:t>
            </a:r>
          </a:p>
          <a:p>
            <a:pPr marL="274320" indent="-274320">
              <a:spcAft>
                <a:spcPts val="1000"/>
              </a:spcAft>
              <a:buClr>
                <a:srgbClr val="C55A11"/>
              </a:buClr>
              <a:buChar char="■"/>
            </a:pPr>
            <a:r>
              <a:rPr sz="1800" b="0">
                <a:solidFill>
                  <a:srgbClr val="222222"/>
                </a:solidFill>
                <a:latin typeface="맑은 고딕"/>
                <a:ea typeface="맑은 고딕"/>
              </a:rPr>
              <a:t>내의원 어의, 호성공신</a:t>
            </a:r>
          </a:p>
          <a:p>
            <a:pPr marL="274320" indent="-274320">
              <a:spcAft>
                <a:spcPts val="1000"/>
              </a:spcAft>
              <a:buClr>
                <a:srgbClr val="C55A11"/>
              </a:buClr>
              <a:buChar char="■"/>
            </a:pPr>
            <a:r>
              <a:rPr sz="1800" b="0">
                <a:solidFill>
                  <a:srgbClr val="222222"/>
                </a:solidFill>
                <a:latin typeface="맑은 고딕"/>
                <a:ea typeface="맑은 고딕"/>
              </a:rPr>
              <a:t>『동의보감』 편찬과 간행</a:t>
            </a:r>
          </a:p>
        </p:txBody>
      </p:sp>
      <p:sp>
        <p:nvSpPr>
          <p:cNvPr id="9" name="Rectangle 8"/>
          <p:cNvSpPr/>
          <p:nvPr/>
        </p:nvSpPr>
        <p:spPr>
          <a:xfrm>
            <a:off x="6278727" y="1463040"/>
            <a:ext cx="5364327" cy="466344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53047" y="1645920"/>
            <a:ext cx="4815687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맑은 고딕"/>
                <a:ea typeface="맑은 고딕"/>
              </a:rPr>
              <a:t>작품 속 창작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3047" y="2331720"/>
            <a:ext cx="4815687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1000"/>
              </a:spcAft>
              <a:buClr>
                <a:srgbClr val="C55A11"/>
              </a:buClr>
              <a:buChar char="■"/>
            </a:pPr>
            <a:r>
              <a:rPr sz="1800" b="0">
                <a:solidFill>
                  <a:srgbClr val="222222"/>
                </a:solidFill>
                <a:latin typeface="맑은 고딕"/>
                <a:ea typeface="맑은 고딕"/>
              </a:rPr>
              <a:t>스승 유의태와 해부 일화</a:t>
            </a:r>
          </a:p>
          <a:p>
            <a:pPr marL="274320" indent="-274320">
              <a:spcAft>
                <a:spcPts val="1000"/>
              </a:spcAft>
              <a:buClr>
                <a:srgbClr val="C55A11"/>
              </a:buClr>
              <a:buChar char="■"/>
            </a:pPr>
            <a:r>
              <a:rPr sz="1800" b="0">
                <a:solidFill>
                  <a:srgbClr val="222222"/>
                </a:solidFill>
                <a:latin typeface="맑은 고딕"/>
                <a:ea typeface="맑은 고딕"/>
              </a:rPr>
              <a:t>실존 유이태는 허준보다 후대</a:t>
            </a:r>
          </a:p>
          <a:p>
            <a:pPr marL="274320" indent="-274320">
              <a:spcAft>
                <a:spcPts val="1000"/>
              </a:spcAft>
              <a:buClr>
                <a:srgbClr val="C55A11"/>
              </a:buClr>
              <a:buChar char="■"/>
            </a:pPr>
            <a:r>
              <a:rPr sz="1800" b="0">
                <a:solidFill>
                  <a:srgbClr val="222222"/>
                </a:solidFill>
                <a:latin typeface="맑은 고딕"/>
                <a:ea typeface="맑은 고딕"/>
              </a:rPr>
              <a:t>소설·드라마로 널리 알려짐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F3864"/>
                </a:solidFill>
                <a:latin typeface="맑은 고딕"/>
                <a:ea typeface="맑은 고딕"/>
              </a:rPr>
              <a:t>결론 — 의학사적 의의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28655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맑은 고딕"/>
                <a:ea typeface="맑은 고딕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  <a:ea typeface="맑은 고딕"/>
              </a:rPr>
              <a:t>허준과 『동의보감』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9441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1000"/>
              </a:spcAft>
              <a:buClr>
                <a:srgbClr val="C55A11"/>
              </a:buClr>
              <a:buChar char="■"/>
            </a:pPr>
            <a:r>
              <a:rPr sz="2000" b="0">
                <a:solidFill>
                  <a:srgbClr val="222222"/>
                </a:solidFill>
                <a:latin typeface="맑은 고딕"/>
                <a:ea typeface="맑은 고딕"/>
              </a:rPr>
              <a:t>동아시아 의학을 조선 실정에 맞게 집대성</a:t>
            </a:r>
          </a:p>
          <a:p>
            <a:pPr marL="274320" indent="-274320">
              <a:spcAft>
                <a:spcPts val="1000"/>
              </a:spcAft>
              <a:buClr>
                <a:srgbClr val="C55A11"/>
              </a:buClr>
              <a:buChar char="■"/>
            </a:pPr>
            <a:r>
              <a:rPr sz="2000" b="0">
                <a:solidFill>
                  <a:srgbClr val="222222"/>
                </a:solidFill>
                <a:latin typeface="맑은 고딕"/>
                <a:ea typeface="맑은 고딕"/>
              </a:rPr>
              <a:t>예방 중심의 양생 사상을 바탕으로 삼음</a:t>
            </a:r>
          </a:p>
          <a:p>
            <a:pPr marL="274320" indent="-274320">
              <a:spcAft>
                <a:spcPts val="1000"/>
              </a:spcAft>
              <a:buClr>
                <a:srgbClr val="C55A11"/>
              </a:buClr>
              <a:buChar char="■"/>
            </a:pPr>
            <a:r>
              <a:rPr sz="2000" b="0">
                <a:solidFill>
                  <a:srgbClr val="222222"/>
                </a:solidFill>
                <a:latin typeface="맑은 고딕"/>
                <a:ea typeface="맑은 고딕"/>
              </a:rPr>
              <a:t>한글 의서와 향약으로 의학 지식 대중화</a:t>
            </a:r>
          </a:p>
          <a:p>
            <a:pPr marL="274320" indent="-274320">
              <a:spcAft>
                <a:spcPts val="1000"/>
              </a:spcAft>
              <a:buClr>
                <a:srgbClr val="C55A11"/>
              </a:buClr>
              <a:buChar char="■"/>
            </a:pPr>
            <a:r>
              <a:rPr sz="2000" b="0">
                <a:solidFill>
                  <a:srgbClr val="222222"/>
                </a:solidFill>
                <a:latin typeface="맑은 고딕"/>
                <a:ea typeface="맑은 고딕"/>
              </a:rPr>
              <a:t>전염병(성홍열 등) 관찰 기록을 남김</a:t>
            </a:r>
          </a:p>
          <a:p>
            <a:pPr marL="274320" indent="-274320">
              <a:spcAft>
                <a:spcPts val="1000"/>
              </a:spcAft>
              <a:buClr>
                <a:srgbClr val="C55A11"/>
              </a:buClr>
              <a:buChar char="■"/>
            </a:pPr>
            <a:r>
              <a:rPr sz="2000" b="0">
                <a:solidFill>
                  <a:srgbClr val="222222"/>
                </a:solidFill>
                <a:latin typeface="맑은 고딕"/>
                <a:ea typeface="맑은 고딕"/>
              </a:rPr>
              <a:t>세계기록유산이 된 국제적 의서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F3864"/>
                </a:solidFill>
                <a:latin typeface="맑은 고딕"/>
                <a:ea typeface="맑은 고딕"/>
              </a:rPr>
              <a:t>참고 출처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28655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맑은 고딕"/>
                <a:ea typeface="맑은 고딕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  <a:ea typeface="맑은 고딕"/>
              </a:rPr>
              <a:t>허준과 『동의보감』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9441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1000"/>
              </a:spcAft>
              <a:buClr>
                <a:srgbClr val="C55A11"/>
              </a:buClr>
              <a:buChar char="■"/>
            </a:pPr>
            <a:r>
              <a:rPr sz="1400" b="0">
                <a:solidFill>
                  <a:srgbClr val="222222"/>
                </a:solidFill>
                <a:latin typeface="맑은 고딕"/>
                <a:ea typeface="맑은 고딕"/>
              </a:rPr>
              <a:t>한국민족문화대백과사전 — 동의보감, 허준</a:t>
            </a:r>
          </a:p>
          <a:p>
            <a:pPr marL="274320" indent="-274320">
              <a:spcAft>
                <a:spcPts val="1000"/>
              </a:spcAft>
              <a:buClr>
                <a:srgbClr val="C55A11"/>
              </a:buClr>
              <a:buChar char="■"/>
            </a:pPr>
            <a:r>
              <a:rPr sz="1400" b="0">
                <a:solidFill>
                  <a:srgbClr val="222222"/>
                </a:solidFill>
                <a:latin typeface="맑은 고딕"/>
                <a:ea typeface="맑은 고딕"/>
              </a:rPr>
              <a:t>한국학중앙연구원 디지털인문학 — 조선 의학의 표준, 동의보감</a:t>
            </a:r>
          </a:p>
          <a:p>
            <a:pPr marL="274320" indent="-274320">
              <a:spcAft>
                <a:spcPts val="1000"/>
              </a:spcAft>
              <a:buClr>
                <a:srgbClr val="C55A11"/>
              </a:buClr>
              <a:buChar char="■"/>
            </a:pPr>
            <a:r>
              <a:rPr sz="1400" b="0">
                <a:solidFill>
                  <a:srgbClr val="222222"/>
                </a:solidFill>
                <a:latin typeface="맑은 고딕"/>
                <a:ea typeface="맑은 고딕"/>
              </a:rPr>
              <a:t>문화체육관광부 — 동의보감 세계기록유산 등재</a:t>
            </a:r>
          </a:p>
          <a:p>
            <a:pPr marL="274320" indent="-274320">
              <a:spcAft>
                <a:spcPts val="1000"/>
              </a:spcAft>
              <a:buClr>
                <a:srgbClr val="C55A11"/>
              </a:buClr>
              <a:buChar char="■"/>
            </a:pPr>
            <a:r>
              <a:rPr sz="1400" b="0">
                <a:solidFill>
                  <a:srgbClr val="222222"/>
                </a:solidFill>
                <a:latin typeface="맑은 고딕"/>
                <a:ea typeface="맑은 고딕"/>
              </a:rPr>
              <a:t>국가기록원, 시대일보, 메디게이트뉴스, 한국경제 생글생글</a:t>
            </a:r>
          </a:p>
          <a:p>
            <a:pPr marL="274320" indent="-274320">
              <a:spcAft>
                <a:spcPts val="1000"/>
              </a:spcAft>
              <a:buClr>
                <a:srgbClr val="C55A11"/>
              </a:buClr>
              <a:buChar char="■"/>
            </a:pPr>
            <a:r>
              <a:rPr sz="1400" b="0">
                <a:solidFill>
                  <a:srgbClr val="222222"/>
                </a:solidFill>
                <a:latin typeface="맑은 고딕"/>
                <a:ea typeface="맑은 고딕"/>
              </a:rPr>
              <a:t>허준 언해 의서 연구, 『벽역신방』 연구(KoreaScience)</a:t>
            </a:r>
          </a:p>
          <a:p>
            <a:pPr marL="274320" indent="-274320">
              <a:spcAft>
                <a:spcPts val="1000"/>
              </a:spcAft>
              <a:buClr>
                <a:srgbClr val="C55A11"/>
              </a:buClr>
              <a:buChar char="■"/>
            </a:pPr>
            <a:r>
              <a:rPr sz="1400" b="0">
                <a:solidFill>
                  <a:srgbClr val="222222"/>
                </a:solidFill>
                <a:latin typeface="맑은 고딕"/>
                <a:ea typeface="맑은 고딕"/>
              </a:rPr>
              <a:t>전체 목록: research/허준_자료조사_v2.md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10545775" cy="13716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맑은 고딕"/>
                <a:ea typeface="맑은 고딕"/>
              </a:rPr>
              <a:t>감사합니다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3611880"/>
            <a:ext cx="1463040" cy="64008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0"/>
            <a:ext cx="1054577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DDE3EC"/>
                </a:solidFill>
                <a:latin typeface="맑은 고딕"/>
                <a:ea typeface="맑은 고딕"/>
              </a:rPr>
              <a:t>질의응답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허준과 『동의보감』</dc:title>
  <dc:subject/>
  <dc:creator>클로드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